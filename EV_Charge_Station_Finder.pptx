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A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3" d="100"/>
          <a:sy n="73" d="100"/>
        </p:scale>
        <p:origin x="3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CEECDA-57EC-730A-53BF-553F4EEF3266}"/>
              </a:ext>
            </a:extLst>
          </p:cNvPr>
          <p:cNvSpPr/>
          <p:nvPr/>
        </p:nvSpPr>
        <p:spPr>
          <a:xfrm>
            <a:off x="0" y="0"/>
            <a:ext cx="12192000" cy="70104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 descr="A close up of a sign&#10;&#10;AI-generated content may be incorrect.">
            <a:extLst>
              <a:ext uri="{FF2B5EF4-FFF2-40B4-BE49-F238E27FC236}">
                <a16:creationId xmlns:a16="http://schemas.microsoft.com/office/drawing/2014/main" id="{479E3C06-0B81-C149-B2E1-ADF9FA84C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409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11AD0E-FBA6-F82F-4D8B-10C8347657CC}"/>
              </a:ext>
            </a:extLst>
          </p:cNvPr>
          <p:cNvSpPr txBox="1"/>
          <p:nvPr/>
        </p:nvSpPr>
        <p:spPr>
          <a:xfrm>
            <a:off x="1406433" y="3044279"/>
            <a:ext cx="103719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u="sng" dirty="0">
                <a:solidFill>
                  <a:schemeClr val="bg1"/>
                </a:solidFill>
                <a:latin typeface="Britannic Bold" panose="020B0903060703020204" pitchFamily="34" charset="0"/>
                <a:cs typeface="DokChampa" panose="020B0502040204020203" pitchFamily="34" charset="-34"/>
              </a:rPr>
              <a:t>Topic</a:t>
            </a:r>
            <a:r>
              <a:rPr lang="en-IN" sz="4400" b="1" dirty="0">
                <a:solidFill>
                  <a:schemeClr val="bg1"/>
                </a:solidFill>
                <a:latin typeface="Britannic Bold" panose="020B0903060703020204" pitchFamily="34" charset="0"/>
                <a:cs typeface="DokChampa" panose="020B0502040204020203" pitchFamily="34" charset="-34"/>
              </a:rPr>
              <a:t> :- EV Charge Station Finder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1238C2-07B9-1C90-206B-1A719C58DFF0}"/>
              </a:ext>
            </a:extLst>
          </p:cNvPr>
          <p:cNvSpPr txBox="1"/>
          <p:nvPr/>
        </p:nvSpPr>
        <p:spPr>
          <a:xfrm>
            <a:off x="130627" y="4826452"/>
            <a:ext cx="7480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u="sng" dirty="0">
                <a:solidFill>
                  <a:schemeClr val="bg1"/>
                </a:solidFill>
                <a:latin typeface="Britannic Bold" panose="020B0903060703020204" pitchFamily="34" charset="0"/>
              </a:rPr>
              <a:t>Presented By</a:t>
            </a:r>
            <a:r>
              <a:rPr lang="en-IN" sz="2400" dirty="0">
                <a:solidFill>
                  <a:schemeClr val="bg1"/>
                </a:solidFill>
                <a:latin typeface="Britannic Bold" panose="020B0903060703020204" pitchFamily="34" charset="0"/>
              </a:rPr>
              <a:t>:- B  Pavan Kumar(25MVCSMR0556)</a:t>
            </a:r>
          </a:p>
          <a:p>
            <a:r>
              <a:rPr lang="en-IN" sz="2400" dirty="0">
                <a:solidFill>
                  <a:schemeClr val="bg1"/>
                </a:solidFill>
                <a:latin typeface="Britannic Bold" panose="020B0903060703020204" pitchFamily="34" charset="0"/>
              </a:rPr>
              <a:t>                      B  Shivaraj(25MVCSMR0558)</a:t>
            </a:r>
          </a:p>
          <a:p>
            <a:r>
              <a:rPr lang="en-IN" sz="2400" dirty="0">
                <a:solidFill>
                  <a:schemeClr val="bg1"/>
                </a:solidFill>
                <a:latin typeface="Britannic Bold" panose="020B0903060703020204" pitchFamily="34" charset="0"/>
              </a:rPr>
              <a:t>                      B  Siva Shankar(25MVCSMR0560)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465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457200"/>
            <a:ext cx="4023360" cy="4023360"/>
          </a:xfrm>
          <a:prstGeom prst="ellipse">
            <a:avLst/>
          </a:prstGeom>
          <a:solidFill>
            <a:srgbClr val="14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274320"/>
            <a:ext cx="2560320" cy="2560320"/>
          </a:xfrm>
          <a:prstGeom prst="ellipse">
            <a:avLst/>
          </a:prstGeom>
          <a:solidFill>
            <a:srgbClr val="194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243625"/>
            <a:ext cx="8503920" cy="6217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800" b="1" u="sng" dirty="0">
                <a:solidFill>
                  <a:srgbClr val="FFFFFF"/>
                </a:solidFill>
                <a:latin typeface="Aptos"/>
              </a:rPr>
              <a:t>EV CHARGE</a:t>
            </a:r>
            <a:r>
              <a:rPr lang="en-IN" sz="3800" b="1" u="sng" dirty="0">
                <a:solidFill>
                  <a:srgbClr val="FFFFFF"/>
                </a:solidFill>
                <a:latin typeface="Aptos"/>
              </a:rPr>
              <a:t>  </a:t>
            </a:r>
            <a:r>
              <a:rPr sz="3800" b="1" u="sng" dirty="0">
                <a:solidFill>
                  <a:srgbClr val="FFFFFF"/>
                </a:solidFill>
                <a:latin typeface="Aptos"/>
              </a:rPr>
              <a:t>STATION FINDER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8776" y="3195807"/>
            <a:ext cx="612648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0" dirty="0">
                <a:solidFill>
                  <a:srgbClr val="D7FAE9"/>
                </a:solidFill>
                <a:latin typeface="Aptos"/>
              </a:rPr>
              <a:t>Find a charger. Plan your route. Drive with confidence.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97680"/>
            <a:ext cx="2743200" cy="512064"/>
          </a:xfrm>
          <a:prstGeom prst="roundRect">
            <a:avLst/>
          </a:prstGeom>
          <a:solidFill>
            <a:srgbClr val="29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4425696"/>
            <a:ext cx="24688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0E2338"/>
                </a:solidFill>
                <a:latin typeface="Aptos"/>
              </a:rPr>
              <a:t>SMART • SIMPLE • ELECTRIC</a:t>
            </a:r>
          </a:p>
        </p:txBody>
      </p:sp>
      <p:sp>
        <p:nvSpPr>
          <p:cNvPr id="8" name="Oval 7"/>
          <p:cNvSpPr/>
          <p:nvPr/>
        </p:nvSpPr>
        <p:spPr>
          <a:xfrm>
            <a:off x="7907731" y="4893868"/>
            <a:ext cx="497433" cy="497433"/>
          </a:xfrm>
          <a:prstGeom prst="ellipse">
            <a:avLst/>
          </a:prstGeom>
          <a:solidFill>
            <a:srgbClr val="0E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75596" y="4893868"/>
            <a:ext cx="497433" cy="497433"/>
          </a:xfrm>
          <a:prstGeom prst="ellipse">
            <a:avLst/>
          </a:prstGeom>
          <a:solidFill>
            <a:srgbClr val="0E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98079" y="4352544"/>
            <a:ext cx="2852928" cy="848563"/>
          </a:xfrm>
          <a:prstGeom prst="roundRect">
            <a:avLst/>
          </a:prstGeom>
          <a:solidFill>
            <a:srgbClr val="29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rapezoid 10"/>
          <p:cNvSpPr/>
          <p:nvPr/>
        </p:nvSpPr>
        <p:spPr>
          <a:xfrm>
            <a:off x="8054035" y="3840480"/>
            <a:ext cx="1755648" cy="804672"/>
          </a:xfrm>
          <a:prstGeom prst="trapezoid">
            <a:avLst/>
          </a:prstGeom>
          <a:solidFill>
            <a:srgbClr val="29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332012" y="3986784"/>
            <a:ext cx="629107" cy="438912"/>
          </a:xfrm>
          <a:prstGeom prst="roundRect">
            <a:avLst/>
          </a:prstGeom>
          <a:solidFill>
            <a:srgbClr val="D7F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19641" y="3986784"/>
            <a:ext cx="555955" cy="438912"/>
          </a:xfrm>
          <a:prstGeom prst="roundRect">
            <a:avLst/>
          </a:prstGeom>
          <a:solidFill>
            <a:srgbClr val="D7F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926726" y="4601260"/>
            <a:ext cx="175564" cy="175564"/>
          </a:xfrm>
          <a:prstGeom prst="ellipse">
            <a:avLst/>
          </a:prstGeom>
          <a:solidFill>
            <a:srgbClr val="FFC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875520" y="2057400"/>
            <a:ext cx="891540" cy="16573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9C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12680" y="2217420"/>
            <a:ext cx="617220" cy="434340"/>
          </a:xfrm>
          <a:prstGeom prst="roundRect">
            <a:avLst/>
          </a:prstGeom>
          <a:solidFill>
            <a:srgbClr val="0E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hevron 16"/>
          <p:cNvSpPr/>
          <p:nvPr/>
        </p:nvSpPr>
        <p:spPr>
          <a:xfrm>
            <a:off x="10195560" y="2263140"/>
            <a:ext cx="257175" cy="400050"/>
          </a:xfrm>
          <a:prstGeom prst="chevron">
            <a:avLst/>
          </a:prstGeom>
          <a:solidFill>
            <a:srgbClr val="FFC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10755630" y="2628900"/>
            <a:ext cx="285750" cy="228600"/>
          </a:xfrm>
          <a:prstGeom prst="line">
            <a:avLst/>
          </a:prstGeom>
          <a:ln w="31750">
            <a:solidFill>
              <a:srgbClr val="29C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041380" y="2857500"/>
            <a:ext cx="0" cy="434340"/>
          </a:xfrm>
          <a:prstGeom prst="line">
            <a:avLst/>
          </a:prstGeom>
          <a:ln w="31750">
            <a:solidFill>
              <a:srgbClr val="29C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927080" y="3234690"/>
            <a:ext cx="228600" cy="285750"/>
          </a:xfrm>
          <a:prstGeom prst="roundRect">
            <a:avLst/>
          </a:prstGeom>
          <a:solidFill>
            <a:srgbClr val="29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49640" y="1234440"/>
            <a:ext cx="548640" cy="548640"/>
          </a:xfrm>
          <a:prstGeom prst="ellipse">
            <a:avLst/>
          </a:prstGeom>
          <a:solidFill>
            <a:srgbClr val="FFC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21090" y="1383030"/>
            <a:ext cx="205739" cy="2057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/>
          <p:cNvSpPr/>
          <p:nvPr/>
        </p:nvSpPr>
        <p:spPr>
          <a:xfrm rot="10800000">
            <a:off x="8641080" y="1554480"/>
            <a:ext cx="365760" cy="400050"/>
          </a:xfrm>
          <a:prstGeom prst="triangle">
            <a:avLst/>
          </a:prstGeom>
          <a:solidFill>
            <a:srgbClr val="FFC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989320"/>
            <a:ext cx="6766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C3D7E1"/>
                </a:solidFill>
                <a:latin typeface="Aptos"/>
              </a:rPr>
              <a:t>A simple guide to finding EV charging 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5F7380"/>
                </a:solidFill>
                <a:latin typeface="Aptos"/>
              </a:rPr>
              <a:t>EV CHARGE STATION FINDER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5F7380"/>
                </a:solidFill>
                <a:latin typeface="Aptos"/>
              </a:rPr>
              <a:t>1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0E2338"/>
                </a:solidFill>
                <a:latin typeface="Aptos"/>
              </a:rPr>
              <a:t>1. What Is an EV Charge Station Finder?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6984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5F7380"/>
                </a:solidFill>
                <a:latin typeface="Aptos"/>
              </a:rPr>
              <a:t>A simple app or website that helps EV drivers locate charging points.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5852160" cy="3383280"/>
          </a:xfrm>
          <a:prstGeom prst="rect">
            <a:avLst/>
          </a:prstGeom>
          <a:noFill/>
        </p:spPr>
        <p:txBody>
          <a:bodyPr wrap="square" lIns="45720" tIns="18288" rIns="36576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0E2338"/>
                </a:solidFill>
                <a:latin typeface="Aptos"/>
              </a:defRPr>
            </a:pPr>
            <a:r>
              <a:t>•  Shows charging stations on a map.</a:t>
            </a:r>
          </a:p>
          <a:p>
            <a:pPr>
              <a:spcAft>
                <a:spcPts val="1600"/>
              </a:spcAft>
              <a:defRPr sz="2000">
                <a:solidFill>
                  <a:srgbClr val="0E2338"/>
                </a:solidFill>
                <a:latin typeface="Aptos"/>
              </a:defRPr>
            </a:pPr>
            <a:r>
              <a:t>•  Finds chargers near your current location.</a:t>
            </a:r>
          </a:p>
          <a:p>
            <a:pPr>
              <a:spcAft>
                <a:spcPts val="1600"/>
              </a:spcAft>
              <a:defRPr sz="2000">
                <a:solidFill>
                  <a:srgbClr val="0E2338"/>
                </a:solidFill>
                <a:latin typeface="Aptos"/>
              </a:defRPr>
            </a:pPr>
            <a:r>
              <a:t>•  Displays distance, connector type and charging speed.</a:t>
            </a:r>
          </a:p>
          <a:p>
            <a:pPr>
              <a:spcAft>
                <a:spcPts val="1600"/>
              </a:spcAft>
              <a:defRPr sz="2000">
                <a:solidFill>
                  <a:srgbClr val="0E2338"/>
                </a:solidFill>
                <a:latin typeface="Aptos"/>
              </a:defRPr>
            </a:pPr>
            <a:r>
              <a:t>•  Helps drivers choose a suitable station.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691640"/>
            <a:ext cx="388620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26679" y="2240280"/>
            <a:ext cx="2055114" cy="3401568"/>
          </a:xfrm>
          <a:prstGeom prst="roundRect">
            <a:avLst/>
          </a:prstGeom>
          <a:solidFill>
            <a:srgbClr val="0E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868411" y="2452878"/>
            <a:ext cx="1771650" cy="294802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8081009" y="2878074"/>
            <a:ext cx="1275589" cy="992124"/>
          </a:xfrm>
          <a:prstGeom prst="line">
            <a:avLst/>
          </a:prstGeom>
          <a:ln w="50800">
            <a:solidFill>
              <a:srgbClr val="CD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081009" y="3232404"/>
            <a:ext cx="1275589" cy="1204722"/>
          </a:xfrm>
          <a:prstGeom prst="line">
            <a:avLst/>
          </a:prstGeom>
          <a:ln w="50800">
            <a:solidFill>
              <a:srgbClr val="CD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506206" y="2594610"/>
            <a:ext cx="141732" cy="2338578"/>
          </a:xfrm>
          <a:prstGeom prst="line">
            <a:avLst/>
          </a:prstGeom>
          <a:ln w="38100">
            <a:solidFill>
              <a:srgbClr val="CD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251088" y="3161538"/>
            <a:ext cx="476219" cy="476219"/>
          </a:xfrm>
          <a:prstGeom prst="ellipse">
            <a:avLst/>
          </a:prstGeom>
          <a:solidFill>
            <a:srgbClr val="29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399907" y="3290514"/>
            <a:ext cx="178582" cy="17858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8330458" y="3439332"/>
            <a:ext cx="317479" cy="347243"/>
          </a:xfrm>
          <a:prstGeom prst="triangle">
            <a:avLst/>
          </a:prstGeom>
          <a:solidFill>
            <a:srgbClr val="29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832189" y="3870198"/>
            <a:ext cx="408188" cy="408188"/>
          </a:xfrm>
          <a:prstGeom prst="ellipse">
            <a:avLst/>
          </a:prstGeom>
          <a:solidFill>
            <a:srgbClr val="48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959748" y="3980748"/>
            <a:ext cx="153070" cy="1530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8900220" y="4108307"/>
            <a:ext cx="272125" cy="297637"/>
          </a:xfrm>
          <a:prstGeom prst="triangle">
            <a:avLst/>
          </a:prstGeom>
          <a:solidFill>
            <a:srgbClr val="48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05418" y="5429250"/>
            <a:ext cx="226771" cy="22677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0" y="2788920"/>
            <a:ext cx="164592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9C484"/>
                </a:solidFill>
                <a:latin typeface="Aptos"/>
              </a:rPr>
              <a:t>Nearby chargers
at a glance</a:t>
            </a:r>
          </a:p>
        </p:txBody>
      </p:sp>
      <p:sp>
        <p:nvSpPr>
          <p:cNvPr id="19" name="Oval 18"/>
          <p:cNvSpPr/>
          <p:nvPr/>
        </p:nvSpPr>
        <p:spPr>
          <a:xfrm>
            <a:off x="9738360" y="3931920"/>
            <a:ext cx="373075" cy="373075"/>
          </a:xfrm>
          <a:prstGeom prst="ellipse">
            <a:avLst/>
          </a:prstGeom>
          <a:solidFill>
            <a:srgbClr val="48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854946" y="4032961"/>
            <a:ext cx="139903" cy="1399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9800539" y="4149547"/>
            <a:ext cx="248716" cy="272034"/>
          </a:xfrm>
          <a:prstGeom prst="triangle">
            <a:avLst/>
          </a:prstGeom>
          <a:solidFill>
            <a:srgbClr val="48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5F7380"/>
                </a:solidFill>
                <a:latin typeface="Aptos"/>
              </a:rPr>
              <a:t>EV CHARGE STATION FINDER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5F7380"/>
                </a:solidFill>
                <a:latin typeface="Aptos"/>
              </a:rPr>
              <a:t>2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0E2338"/>
                </a:solidFill>
                <a:latin typeface="Aptos"/>
              </a:rPr>
              <a:t>2.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6984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5F7380"/>
                </a:solidFill>
                <a:latin typeface="Aptos"/>
              </a:rPr>
              <a:t>Finding a charger can be difficult when you are on the road.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429000" cy="3429000"/>
          </a:xfrm>
          <a:prstGeom prst="roundRect">
            <a:avLst/>
          </a:prstGeom>
          <a:solidFill>
            <a:srgbClr val="F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41832" y="2084831"/>
            <a:ext cx="566928" cy="566928"/>
          </a:xfrm>
          <a:prstGeom prst="ellipse">
            <a:avLst/>
          </a:prstGeom>
          <a:solidFill>
            <a:srgbClr val="F6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0976" y="2240280"/>
            <a:ext cx="548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0E2338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880360"/>
            <a:ext cx="28346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0E2338"/>
                </a:solidFill>
                <a:latin typeface="Aptos"/>
              </a:rPr>
              <a:t>Low battery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474720"/>
            <a:ext cx="2788920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rgbClr val="5F7380"/>
                </a:solidFill>
                <a:latin typeface="Aptos"/>
              </a:rPr>
              <a:t>Drivers worry about running out of charge.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429000" cy="3429000"/>
          </a:xfrm>
          <a:prstGeom prst="roundRect">
            <a:avLst/>
          </a:prstGeom>
          <a:solidFill>
            <a:srgbClr val="F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782312" y="2084831"/>
            <a:ext cx="566928" cy="566928"/>
          </a:xfrm>
          <a:prstGeom prst="ellipse">
            <a:avLst/>
          </a:prstGeom>
          <a:solidFill>
            <a:srgbClr val="48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91456" y="2240280"/>
            <a:ext cx="548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0E2338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2880360"/>
            <a:ext cx="28346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0E2338"/>
                </a:solidFill>
                <a:latin typeface="Aptos"/>
              </a:rPr>
              <a:t>Unknown 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3474720"/>
            <a:ext cx="2788920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rgbClr val="5F7380"/>
                </a:solidFill>
                <a:latin typeface="Aptos"/>
              </a:rPr>
              <a:t>A nearby charger may be hard to find.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828800"/>
            <a:ext cx="3429000" cy="3429000"/>
          </a:xfrm>
          <a:prstGeom prst="roundRect">
            <a:avLst/>
          </a:prstGeom>
          <a:solidFill>
            <a:srgbClr val="F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22792" y="2084831"/>
            <a:ext cx="566928" cy="566928"/>
          </a:xfrm>
          <a:prstGeom prst="ellipse">
            <a:avLst/>
          </a:prstGeom>
          <a:solidFill>
            <a:srgbClr val="FFC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31936" y="2240280"/>
            <a:ext cx="548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0E2338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2" y="2880360"/>
            <a:ext cx="28346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0E2338"/>
                </a:solidFill>
                <a:latin typeface="Aptos"/>
              </a:rPr>
              <a:t>Wrong connector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3474720"/>
            <a:ext cx="2788920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rgbClr val="5F7380"/>
                </a:solidFill>
                <a:latin typeface="Aptos"/>
              </a:rPr>
              <a:t>Not every charger fits every EV.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715000"/>
            <a:ext cx="9966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29C484"/>
                </a:solidFill>
                <a:latin typeface="Aptos"/>
              </a:rPr>
              <a:t>A good finder saves time and reduces range anxiety.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5F7380"/>
                </a:solidFill>
                <a:latin typeface="Aptos"/>
              </a:rPr>
              <a:t>EV CHARGE STATION FINDER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5F7380"/>
                </a:solidFill>
                <a:latin typeface="Aptos"/>
              </a:rPr>
              <a:t>3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FA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0E2338"/>
                </a:solidFill>
                <a:latin typeface="Aptos"/>
              </a:rPr>
              <a:t>3. How Does It 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6984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5F7380"/>
                </a:solidFill>
                <a:latin typeface="Aptos"/>
              </a:rPr>
              <a:t>Three easy steps from searching to charging.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3337560" cy="2971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947672" y="2331720"/>
            <a:ext cx="749808" cy="749808"/>
          </a:xfrm>
          <a:prstGeom prst="ellipse">
            <a:avLst/>
          </a:prstGeom>
          <a:solidFill>
            <a:srgbClr val="29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47672" y="2542032"/>
            <a:ext cx="74980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269748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200" b="1">
                <a:solidFill>
                  <a:srgbClr val="0E2338"/>
                </a:solidFill>
                <a:latin typeface="Aptos"/>
              </a:rPr>
              <a:t>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86200"/>
            <a:ext cx="269748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0">
                <a:solidFill>
                  <a:srgbClr val="5F7380"/>
                </a:solidFill>
                <a:latin typeface="Aptos"/>
              </a:rPr>
              <a:t>Enter your city or allow location access.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69080" y="3520440"/>
            <a:ext cx="384048" cy="0"/>
          </a:xfrm>
          <a:prstGeom prst="line">
            <a:avLst/>
          </a:prstGeom>
          <a:ln w="38100">
            <a:solidFill>
              <a:srgbClr val="29C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26280" y="2011680"/>
            <a:ext cx="3337560" cy="2971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788152" y="2331720"/>
            <a:ext cx="749808" cy="749808"/>
          </a:xfrm>
          <a:prstGeom prst="ellipse">
            <a:avLst/>
          </a:prstGeom>
          <a:solidFill>
            <a:srgbClr val="29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88152" y="2542032"/>
            <a:ext cx="74980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337560"/>
            <a:ext cx="269748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200" b="1">
                <a:solidFill>
                  <a:srgbClr val="0E2338"/>
                </a:solidFill>
                <a:latin typeface="Aptos"/>
              </a:rPr>
              <a:t>Choose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886200"/>
            <a:ext cx="269748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0">
                <a:solidFill>
                  <a:srgbClr val="5F7380"/>
                </a:solidFill>
                <a:latin typeface="Aptos"/>
              </a:rPr>
              <a:t>Check distance, connector and availability.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09560" y="3520440"/>
            <a:ext cx="384048" cy="0"/>
          </a:xfrm>
          <a:prstGeom prst="line">
            <a:avLst/>
          </a:prstGeom>
          <a:ln w="38100">
            <a:solidFill>
              <a:srgbClr val="29C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366760" y="2011680"/>
            <a:ext cx="3337560" cy="2971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28632" y="2331720"/>
            <a:ext cx="749808" cy="749808"/>
          </a:xfrm>
          <a:prstGeom prst="ellipse">
            <a:avLst/>
          </a:prstGeom>
          <a:solidFill>
            <a:srgbClr val="29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28632" y="2542032"/>
            <a:ext cx="74980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337560"/>
            <a:ext cx="269748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200" b="1">
                <a:solidFill>
                  <a:srgbClr val="0E2338"/>
                </a:solidFill>
                <a:latin typeface="Aptos"/>
              </a:rPr>
              <a:t>Navigate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886200"/>
            <a:ext cx="269748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0">
                <a:solidFill>
                  <a:srgbClr val="5F7380"/>
                </a:solidFill>
                <a:latin typeface="Aptos"/>
              </a:rPr>
              <a:t>Open directions and drive to the station.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5F7380"/>
                </a:solidFill>
                <a:latin typeface="Aptos"/>
              </a:rPr>
              <a:t>EV CHARGE STATION FINDER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5F7380"/>
                </a:solidFill>
                <a:latin typeface="Aptos"/>
              </a:rPr>
              <a:t>4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0E2338"/>
                </a:solidFill>
                <a:latin typeface="Aptos"/>
              </a:rPr>
              <a:t>4. Main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6984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5F7380"/>
                </a:solidFill>
                <a:latin typeface="Aptos"/>
              </a:rPr>
              <a:t>Useful information before you plug 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074920" cy="1600200"/>
          </a:xfrm>
          <a:prstGeom prst="roundRect">
            <a:avLst/>
          </a:prstGeom>
          <a:solidFill>
            <a:srgbClr val="F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" y="2084832"/>
            <a:ext cx="685800" cy="685800"/>
          </a:xfrm>
          <a:prstGeom prst="ellipse">
            <a:avLst/>
          </a:prstGeom>
          <a:solidFill>
            <a:srgbClr val="29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24712" y="2185416"/>
            <a:ext cx="241401" cy="2414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00150" y="2250795"/>
            <a:ext cx="90525" cy="90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Isosceles Triangle 7"/>
          <p:cNvSpPr/>
          <p:nvPr/>
        </p:nvSpPr>
        <p:spPr>
          <a:xfrm rot="10800000">
            <a:off x="1164945" y="2326233"/>
            <a:ext cx="160934" cy="176022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20240" y="2011680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0E2338"/>
                </a:solidFill>
                <a:latin typeface="Aptos"/>
              </a:rPr>
              <a:t>Map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450592"/>
            <a:ext cx="35661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5F7380"/>
                </a:solidFill>
                <a:latin typeface="Aptos"/>
              </a:rPr>
              <a:t>See stations around you.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691640"/>
            <a:ext cx="5074920" cy="1600200"/>
          </a:xfrm>
          <a:prstGeom prst="roundRect">
            <a:avLst/>
          </a:prstGeom>
          <a:solidFill>
            <a:srgbClr val="F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65392" y="2084832"/>
            <a:ext cx="685800" cy="685800"/>
          </a:xfrm>
          <a:prstGeom prst="ellipse">
            <a:avLst/>
          </a:prstGeom>
          <a:solidFill>
            <a:srgbClr val="48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47688" y="2167128"/>
            <a:ext cx="502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011680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0E2338"/>
                </a:solidFill>
                <a:latin typeface="Aptos"/>
              </a:rPr>
              <a:t>Live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450592"/>
            <a:ext cx="35661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5F7380"/>
                </a:solidFill>
                <a:latin typeface="Aptos"/>
              </a:rPr>
              <a:t>Check if a charger is free.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5074920" cy="1600200"/>
          </a:xfrm>
          <a:prstGeom prst="roundRect">
            <a:avLst/>
          </a:prstGeom>
          <a:solidFill>
            <a:srgbClr val="F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87552" y="4142231"/>
            <a:ext cx="685800" cy="685800"/>
          </a:xfrm>
          <a:prstGeom prst="ellipse">
            <a:avLst/>
          </a:prstGeom>
          <a:solidFill>
            <a:srgbClr val="FFC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 flipV="1">
            <a:off x="1124712" y="4251959"/>
            <a:ext cx="338328" cy="155448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371600" y="4251959"/>
            <a:ext cx="91440" cy="329185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20240" y="4069079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0E2338"/>
                </a:solidFill>
                <a:latin typeface="Aptos"/>
              </a:rPr>
              <a:t>Route help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507992"/>
            <a:ext cx="35661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5F7380"/>
                </a:solidFill>
                <a:latin typeface="Aptos"/>
              </a:rPr>
              <a:t>Get directions to the station.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3749039"/>
            <a:ext cx="5074920" cy="1600200"/>
          </a:xfrm>
          <a:prstGeom prst="roundRect">
            <a:avLst/>
          </a:prstGeom>
          <a:solidFill>
            <a:srgbClr val="F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565392" y="4142231"/>
            <a:ext cx="685800" cy="685800"/>
          </a:xfrm>
          <a:prstGeom prst="ellipse">
            <a:avLst/>
          </a:prstGeom>
          <a:solidFill>
            <a:srgbClr val="F6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65975" y="4224527"/>
            <a:ext cx="4572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069079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0E2338"/>
                </a:solidFill>
                <a:latin typeface="Aptos"/>
              </a:rPr>
              <a:t>Filters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507992"/>
            <a:ext cx="35661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5F7380"/>
                </a:solidFill>
                <a:latin typeface="Aptos"/>
              </a:rPr>
              <a:t>Choose speed and connector type.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5F7380"/>
                </a:solidFill>
                <a:latin typeface="Aptos"/>
              </a:rPr>
              <a:t>EV CHARGE STATION FINDER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5F7380"/>
                </a:solidFill>
                <a:latin typeface="Aptos"/>
              </a:rPr>
              <a:t>5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5. Benefits for EV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04241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D7FAE9"/>
                </a:solidFill>
                <a:latin typeface="Aptos"/>
              </a:rPr>
              <a:t>A smarter way to travel with an electric vehicle.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29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929384"/>
            <a:ext cx="48463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10512"/>
            <a:ext cx="2743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Save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10512"/>
            <a:ext cx="51206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rgbClr val="C9DCE4"/>
                </a:solidFill>
                <a:latin typeface="Aptos"/>
              </a:rPr>
              <a:t>Less searching and fewer detours.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788920"/>
            <a:ext cx="502920" cy="502920"/>
          </a:xfrm>
          <a:prstGeom prst="ellipse">
            <a:avLst/>
          </a:prstGeom>
          <a:solidFill>
            <a:srgbClr val="29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889503"/>
            <a:ext cx="48463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70632"/>
            <a:ext cx="2743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Travel confidently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770632"/>
            <a:ext cx="51206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rgbClr val="C9DCE4"/>
                </a:solidFill>
                <a:latin typeface="Aptos"/>
              </a:rPr>
              <a:t>Plan charging stops before a trip.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49039"/>
            <a:ext cx="502920" cy="502920"/>
          </a:xfrm>
          <a:prstGeom prst="ellipse">
            <a:avLst/>
          </a:prstGeom>
          <a:solidFill>
            <a:srgbClr val="29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3849624"/>
            <a:ext cx="48463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730752"/>
            <a:ext cx="2743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Pick the right charger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730752"/>
            <a:ext cx="51206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rgbClr val="C9DCE4"/>
                </a:solidFill>
                <a:latin typeface="Aptos"/>
              </a:rPr>
              <a:t>Match the connector to your EV.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709160"/>
            <a:ext cx="502920" cy="502920"/>
          </a:xfrm>
          <a:prstGeom prst="ellipse">
            <a:avLst/>
          </a:prstGeom>
          <a:solidFill>
            <a:srgbClr val="29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4809744"/>
            <a:ext cx="48463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690872"/>
            <a:ext cx="2743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Support clean travel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690872"/>
            <a:ext cx="51206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rgbClr val="C9DCE4"/>
                </a:solidFill>
                <a:latin typeface="Aptos"/>
              </a:rPr>
              <a:t>Make electric driving more convenient.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011680"/>
            <a:ext cx="855878" cy="15910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9C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732873" y="2165299"/>
            <a:ext cx="592531" cy="416966"/>
          </a:xfrm>
          <a:prstGeom prst="roundRect">
            <a:avLst/>
          </a:prstGeom>
          <a:solidFill>
            <a:srgbClr val="0E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hevron 21"/>
          <p:cNvSpPr/>
          <p:nvPr/>
        </p:nvSpPr>
        <p:spPr>
          <a:xfrm>
            <a:off x="9908438" y="2209190"/>
            <a:ext cx="246888" cy="384048"/>
          </a:xfrm>
          <a:prstGeom prst="chevron">
            <a:avLst/>
          </a:prstGeom>
          <a:solidFill>
            <a:srgbClr val="FFC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>
            <a:off x="10446105" y="2560320"/>
            <a:ext cx="274320" cy="219456"/>
          </a:xfrm>
          <a:prstGeom prst="line">
            <a:avLst/>
          </a:prstGeom>
          <a:ln w="31750">
            <a:solidFill>
              <a:srgbClr val="29C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720425" y="2779776"/>
            <a:ext cx="0" cy="416966"/>
          </a:xfrm>
          <a:prstGeom prst="line">
            <a:avLst/>
          </a:prstGeom>
          <a:ln w="31750">
            <a:solidFill>
              <a:srgbClr val="29C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610697" y="3141878"/>
            <a:ext cx="219456" cy="274320"/>
          </a:xfrm>
          <a:prstGeom prst="roundRect">
            <a:avLst/>
          </a:prstGeom>
          <a:solidFill>
            <a:srgbClr val="29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39835" y="5661964"/>
            <a:ext cx="341985" cy="341985"/>
          </a:xfrm>
          <a:prstGeom prst="ellipse">
            <a:avLst/>
          </a:prstGeom>
          <a:solidFill>
            <a:srgbClr val="0E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886492" y="5661964"/>
            <a:ext cx="341985" cy="341985"/>
          </a:xfrm>
          <a:prstGeom prst="ellipse">
            <a:avLst/>
          </a:prstGeom>
          <a:solidFill>
            <a:srgbClr val="0E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458200" y="5289804"/>
            <a:ext cx="1961388" cy="583387"/>
          </a:xfrm>
          <a:prstGeom prst="roundRect">
            <a:avLst/>
          </a:prstGeom>
          <a:solidFill>
            <a:srgbClr val="29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rapezoid 28"/>
          <p:cNvSpPr/>
          <p:nvPr/>
        </p:nvSpPr>
        <p:spPr>
          <a:xfrm>
            <a:off x="8840419" y="4937760"/>
            <a:ext cx="1207008" cy="553212"/>
          </a:xfrm>
          <a:prstGeom prst="trapezoid">
            <a:avLst/>
          </a:prstGeom>
          <a:solidFill>
            <a:srgbClr val="29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031528" y="5038344"/>
            <a:ext cx="432511" cy="301752"/>
          </a:xfrm>
          <a:prstGeom prst="roundRect">
            <a:avLst/>
          </a:prstGeom>
          <a:solidFill>
            <a:srgbClr val="D7F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504273" y="5038344"/>
            <a:ext cx="382219" cy="301752"/>
          </a:xfrm>
          <a:prstGeom prst="roundRect">
            <a:avLst/>
          </a:prstGeom>
          <a:solidFill>
            <a:srgbClr val="D7F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127894" y="5460796"/>
            <a:ext cx="120700" cy="120700"/>
          </a:xfrm>
          <a:prstGeom prst="ellipse">
            <a:avLst/>
          </a:prstGeom>
          <a:solidFill>
            <a:srgbClr val="FFC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5F7380"/>
                </a:solidFill>
                <a:latin typeface="Aptos"/>
              </a:rPr>
              <a:t>EV CHARGE STATION FINDER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5F7380"/>
                </a:solidFill>
                <a:latin typeface="Aptos"/>
              </a:rPr>
              <a:t>6 /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0E2338"/>
                </a:solidFill>
                <a:latin typeface="Aptos"/>
              </a:rPr>
              <a:t>6.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6984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5F7380"/>
                </a:solidFill>
                <a:latin typeface="Aptos"/>
              </a:rPr>
              <a:t>Find your charger and keep your journey moving.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640080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5669280" cy="3017520"/>
          </a:xfrm>
          <a:prstGeom prst="rect">
            <a:avLst/>
          </a:prstGeom>
          <a:noFill/>
        </p:spPr>
        <p:txBody>
          <a:bodyPr wrap="square" lIns="45720" tIns="18288" rIns="36576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0E2338"/>
                </a:solidFill>
                <a:latin typeface="Aptos"/>
              </a:defRPr>
            </a:pPr>
            <a:r>
              <a:t>•  EV Charge Station Finder makes charging easier.</a:t>
            </a:r>
          </a:p>
          <a:p>
            <a:pPr>
              <a:spcAft>
                <a:spcPts val="1500"/>
              </a:spcAft>
              <a:defRPr sz="1900">
                <a:solidFill>
                  <a:srgbClr val="0E2338"/>
                </a:solidFill>
                <a:latin typeface="Aptos"/>
              </a:defRPr>
            </a:pPr>
            <a:r>
              <a:t>•  Search, compare and choose a suitable station.</a:t>
            </a:r>
          </a:p>
          <a:p>
            <a:pPr>
              <a:spcAft>
                <a:spcPts val="1500"/>
              </a:spcAft>
              <a:defRPr sz="1900">
                <a:solidFill>
                  <a:srgbClr val="0E2338"/>
                </a:solidFill>
                <a:latin typeface="Aptos"/>
              </a:defRPr>
            </a:pPr>
            <a:r>
              <a:t>•  Check station details before you start driving.</a:t>
            </a:r>
          </a:p>
          <a:p>
            <a:pPr>
              <a:spcAft>
                <a:spcPts val="1500"/>
              </a:spcAft>
              <a:defRPr sz="1900">
                <a:solidFill>
                  <a:srgbClr val="0E2338"/>
                </a:solidFill>
                <a:latin typeface="Aptos"/>
              </a:defRPr>
            </a:pPr>
            <a:r>
              <a:t>•  Plan ahead and enjoy a smoother EV journey.</a:t>
            </a:r>
          </a:p>
        </p:txBody>
      </p:sp>
      <p:sp>
        <p:nvSpPr>
          <p:cNvPr id="6" name="Oval 5"/>
          <p:cNvSpPr/>
          <p:nvPr/>
        </p:nvSpPr>
        <p:spPr>
          <a:xfrm>
            <a:off x="8229600" y="1828800"/>
            <a:ext cx="2926080" cy="2926080"/>
          </a:xfrm>
          <a:prstGeom prst="ellipse">
            <a:avLst/>
          </a:prstGeom>
          <a:solidFill>
            <a:srgbClr val="D7F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15400" y="2240280"/>
            <a:ext cx="1657350" cy="2743200"/>
          </a:xfrm>
          <a:prstGeom prst="roundRect">
            <a:avLst/>
          </a:prstGeom>
          <a:solidFill>
            <a:srgbClr val="0E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029700" y="2411730"/>
            <a:ext cx="142875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9201150" y="2754630"/>
            <a:ext cx="1028700" cy="800100"/>
          </a:xfrm>
          <a:prstGeom prst="line">
            <a:avLst/>
          </a:prstGeom>
          <a:ln w="50800">
            <a:solidFill>
              <a:srgbClr val="CD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201150" y="3040380"/>
            <a:ext cx="1028700" cy="971550"/>
          </a:xfrm>
          <a:prstGeom prst="line">
            <a:avLst/>
          </a:prstGeom>
          <a:ln w="50800">
            <a:solidFill>
              <a:srgbClr val="CD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544050" y="2526030"/>
            <a:ext cx="114300" cy="1885950"/>
          </a:xfrm>
          <a:prstGeom prst="line">
            <a:avLst/>
          </a:prstGeom>
          <a:ln w="38100">
            <a:solidFill>
              <a:srgbClr val="CD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338310" y="2983230"/>
            <a:ext cx="384048" cy="384048"/>
          </a:xfrm>
          <a:prstGeom prst="ellipse">
            <a:avLst/>
          </a:prstGeom>
          <a:solidFill>
            <a:srgbClr val="29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458325" y="3087243"/>
            <a:ext cx="144018" cy="14401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Isosceles Triangle 13"/>
          <p:cNvSpPr/>
          <p:nvPr/>
        </p:nvSpPr>
        <p:spPr>
          <a:xfrm rot="10800000">
            <a:off x="9402318" y="3207258"/>
            <a:ext cx="256032" cy="280034"/>
          </a:xfrm>
          <a:prstGeom prst="triangle">
            <a:avLst/>
          </a:prstGeom>
          <a:solidFill>
            <a:srgbClr val="29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806940" y="3554730"/>
            <a:ext cx="329184" cy="329184"/>
          </a:xfrm>
          <a:prstGeom prst="ellipse">
            <a:avLst/>
          </a:prstGeom>
          <a:solidFill>
            <a:srgbClr val="48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909810" y="3643884"/>
            <a:ext cx="123444" cy="1234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Isosceles Triangle 16"/>
          <p:cNvSpPr/>
          <p:nvPr/>
        </p:nvSpPr>
        <p:spPr>
          <a:xfrm rot="10800000">
            <a:off x="9861804" y="3746754"/>
            <a:ext cx="219456" cy="240029"/>
          </a:xfrm>
          <a:prstGeom prst="triangle">
            <a:avLst/>
          </a:prstGeom>
          <a:solidFill>
            <a:srgbClr val="48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24060" y="481203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130844" y="5493715"/>
            <a:ext cx="435254" cy="435254"/>
          </a:xfrm>
          <a:prstGeom prst="ellipse">
            <a:avLst/>
          </a:prstGeom>
          <a:solidFill>
            <a:srgbClr val="0E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590227" y="5493715"/>
            <a:ext cx="435254" cy="435254"/>
          </a:xfrm>
          <a:prstGeom prst="ellipse">
            <a:avLst/>
          </a:prstGeom>
          <a:solidFill>
            <a:srgbClr val="0E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72400" y="5020056"/>
            <a:ext cx="2496312" cy="742492"/>
          </a:xfrm>
          <a:prstGeom prst="roundRect">
            <a:avLst/>
          </a:prstGeom>
          <a:solidFill>
            <a:srgbClr val="29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rapezoid 21"/>
          <p:cNvSpPr/>
          <p:nvPr/>
        </p:nvSpPr>
        <p:spPr>
          <a:xfrm>
            <a:off x="8258860" y="4572000"/>
            <a:ext cx="1536192" cy="704088"/>
          </a:xfrm>
          <a:prstGeom prst="trapezoid">
            <a:avLst/>
          </a:prstGeom>
          <a:solidFill>
            <a:srgbClr val="29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502091" y="4700016"/>
            <a:ext cx="550468" cy="384048"/>
          </a:xfrm>
          <a:prstGeom prst="roundRect">
            <a:avLst/>
          </a:prstGeom>
          <a:solidFill>
            <a:srgbClr val="D7F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03766" y="4700016"/>
            <a:ext cx="486460" cy="384048"/>
          </a:xfrm>
          <a:prstGeom prst="roundRect">
            <a:avLst/>
          </a:prstGeom>
          <a:solidFill>
            <a:srgbClr val="D7F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897465" y="5237683"/>
            <a:ext cx="153619" cy="153619"/>
          </a:xfrm>
          <a:prstGeom prst="ellipse">
            <a:avLst/>
          </a:prstGeom>
          <a:solidFill>
            <a:srgbClr val="FFC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09560" y="5715000"/>
            <a:ext cx="33832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400" b="1">
                <a:solidFill>
                  <a:srgbClr val="29C484"/>
                </a:solidFill>
                <a:latin typeface="Aptos"/>
              </a:rPr>
              <a:t>Thank You!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5F7380"/>
                </a:solidFill>
                <a:latin typeface="Aptos"/>
              </a:rPr>
              <a:t>EV CHARGE STATION FINDER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5F7380"/>
                </a:solidFill>
                <a:latin typeface="Aptos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427</Words>
  <Application>Microsoft Office PowerPoint</Application>
  <PresentationFormat>Widescreen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Britannic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918125322358</cp:lastModifiedBy>
  <cp:revision>2</cp:revision>
  <dcterms:created xsi:type="dcterms:W3CDTF">2013-01-27T09:14:16Z</dcterms:created>
  <dcterms:modified xsi:type="dcterms:W3CDTF">2026-10-10T05:07:49Z</dcterms:modified>
  <cp:category/>
</cp:coreProperties>
</file>